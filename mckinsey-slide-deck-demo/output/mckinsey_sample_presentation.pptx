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SAIL Bokaro Steel Plant Digital Transformation Roadmap discussion document. This deck synthesizes our diagnostic across BSL's integrated steel plant and mines, prioritizing 150+ digital initiatives into a 3-wave roadmap delivering ~INR 1,310 Cr in annual recurring EBITDA.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details the baseline operational diagnostic and how the 3-wave transformation scales financial impact from INR 180 Cr in FY25 to INR 1,310 Cr by FY28.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Phased rollout across three waves expands BSL's recurring annual EBITDA run-rate from INR 180 Cr in FY25 actuals to INR 1,310 Cr by FY28. Wave 1 requires minimal capex and focuses on AI process control models that self-fund Waves 2 and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mapped all 150+ initiatives on a 3x3 prioritization matrix comparing Level of EBITDA Impact against Time to Impact. Green badges represent Wave 1 priority quick wins; Amber represents Wave 2 core scaling; Coral represents foundational IT/OT upgrades.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integrated transformation pillars underpin BSL's roadmap: Primary Steelmaking AI, Rolling &amp; Quality Automation, Smart Energy &amp; Mine Logistics, and the SAIL Digital Academy &amp; Cloud Data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sustain INR 1,310 Cr in annual value, BSL must address five organizational and technical dimensions. While executive sponsorship and Wave 1 use-case design are green, Level-1/2 sensor readiness in legacy shops requires immediate Q1 remediation.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50040" y="0"/>
            <a:ext cx="146304" cy="6858000"/>
          </a:xfrm>
          <a:prstGeom prst="rect">
            <a:avLst/>
          </a:prstGeom>
          <a:solidFill>
            <a:srgbClr val="222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96344" y="0"/>
            <a:ext cx="295351" cy="685800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2A3DF"/>
                </a:solidFill>
                <a:latin typeface="Arial"/>
              </a:defRPr>
            </a:pPr>
            <a:r>
              <a:t>DISCUSSION DOCUMENT | CLIENT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9326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Georgia"/>
              </a:defRPr>
            </a:pPr>
            <a:r>
              <a:t>SAIL Digital Transformation Roadmap | BSL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337560"/>
            <a:ext cx="1005840" cy="45720"/>
          </a:xfrm>
          <a:prstGeom prst="rect">
            <a:avLst/>
          </a:prstGeom>
          <a:solidFill>
            <a:srgbClr val="222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547872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A2D5EC"/>
                </a:solidFill>
                <a:latin typeface="Arial"/>
              </a:defRPr>
            </a:pPr>
            <a:r>
              <a:t>End-to-end Industry 4.0 architecture, 150+ prioritized plant &amp; mine initiatives, and capability building to unlock ~INR 1,310 Cr in recurring EBITDA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623560"/>
            <a:ext cx="10424160" cy="13716"/>
          </a:xfrm>
          <a:prstGeom prst="rect">
            <a:avLst/>
          </a:prstGeom>
          <a:solidFill>
            <a:srgbClr val="187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779008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D8D8D8"/>
                </a:solidFill>
                <a:latin typeface="Arial"/>
              </a:defRPr>
            </a:pPr>
            <a:r>
              <a:t>Prepared for Steel Authority of India Limited – Bokaro Steel Plant (BSL)Digital Transformation Steering Committee |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5715000"/>
            <a:ext cx="2240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McKinsey &amp;</a:t>
            </a:r>
            <a:br/>
            <a:r>
              <a:t>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F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2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2A3DF"/>
                </a:solidFill>
                <a:latin typeface="Arial"/>
              </a:defRPr>
            </a:pPr>
            <a:r>
              <a:t>SECTION 01 | VALUE REALIZATION &amp; STRATEGIC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Capturing ~INR 1,310 Cr in annual value through advanced analytics and plant digitization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326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2D5EC"/>
                </a:solidFill>
                <a:latin typeface="Arial"/>
              </a:defRPr>
            </a:pPr>
            <a:r>
              <a:t>Phased execution across Blast Furnace, Steel Melting Shop (SMS), Hot Strip Mill (HSM), Energy &amp; Utilities, and Raw Material Mines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FFFFFF"/>
                </a:solidFill>
                <a:latin typeface="Georgia"/>
              </a:defRPr>
            </a:pPr>
            <a:r>
              <a:t>McKinsey &amp; Company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877A2"/>
                </a:solidFill>
                <a:latin typeface="Arial"/>
              </a:defRPr>
            </a:pPr>
            <a:r>
              <a:t>VALUE REALIZATION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51C2C"/>
                </a:solidFill>
                <a:latin typeface="Arial"/>
              </a:defRPr>
            </a:pPr>
            <a:r>
              <a:t>Phased rollout across three waves scales recurring EBITDA impact to ~INR 1,310 Cr by FY28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7F7F7F"/>
                </a:solidFill>
                <a:latin typeface="Arial"/>
              </a:defRPr>
            </a:pPr>
            <a:r>
              <a:t>Gross annual run-rate EBITDA impact from 150+ digital initiatives, INR Crores (FY25 Actuals vs. FY26–FY28 Forecast)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100297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26464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1C2C"/>
                </a:solidFill>
                <a:latin typeface="Arial"/>
              </a:defRPr>
            </a:pPr>
            <a:r>
              <a:t>Recurring EBITDA Impact, INR Cr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408176"/>
            <a:ext cx="2148840" cy="292608"/>
          </a:xfrm>
          <a:prstGeom prst="roundRect">
            <a:avLst/>
          </a:prstGeom>
          <a:solidFill>
            <a:srgbClr val="E7F0F9"/>
          </a:solidFill>
          <a:ln>
            <a:solidFill>
              <a:srgbClr val="A2D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51C2C"/>
                </a:solidFill>
                <a:latin typeface="Arial"/>
              </a:defRPr>
            </a:pPr>
            <a:r>
              <a:t>CAGR +94% (FY25–FY28F)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349240"/>
            <a:ext cx="6400800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1681" y="4940901"/>
            <a:ext cx="851306" cy="40833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7255" y="4501989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F6FD8"/>
                </a:solidFill>
                <a:latin typeface="Arial"/>
              </a:defRPr>
            </a:pPr>
            <a:r>
              <a:t>Baseline</a:t>
            </a:r>
          </a:p>
          <a:p>
            <a:pPr algn="ctr">
              <a:defRPr sz="1050" b="1">
                <a:solidFill>
                  <a:srgbClr val="051C2C"/>
                </a:solidFill>
                <a:latin typeface="Arial"/>
              </a:defRPr>
            </a:pPr>
            <a:r>
              <a:t>180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5814" y="5404103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51C2C"/>
                </a:solidFill>
                <a:latin typeface="Arial"/>
              </a:defRPr>
            </a:pPr>
            <a:r>
              <a:t>FY25 Actuals</a:t>
            </a:r>
          </a:p>
          <a:p>
            <a:pPr algn="ctr">
              <a:defRPr sz="800">
                <a:solidFill>
                  <a:srgbClr val="7F7F7F"/>
                </a:solidFill>
                <a:latin typeface="Arial"/>
              </a:defRPr>
            </a:pPr>
            <a:r>
              <a:t>Pilot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1871" y="4237650"/>
            <a:ext cx="851306" cy="1111589"/>
          </a:xfrm>
          <a:prstGeom prst="rect">
            <a:avLst/>
          </a:prstGeom>
          <a:solidFill>
            <a:srgbClr val="1F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17445" y="379873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F6FD8"/>
                </a:solidFill>
                <a:latin typeface="Arial"/>
              </a:defRPr>
            </a:pPr>
            <a:r>
              <a:t>+172%</a:t>
            </a:r>
          </a:p>
          <a:p>
            <a:pPr algn="ctr">
              <a:defRPr sz="1050" b="1">
                <a:solidFill>
                  <a:srgbClr val="051C2C"/>
                </a:solidFill>
                <a:latin typeface="Arial"/>
              </a:defRPr>
            </a:pPr>
            <a:r>
              <a:t>490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6005" y="5404103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51C2C"/>
                </a:solidFill>
                <a:latin typeface="Arial"/>
              </a:defRPr>
            </a:pPr>
            <a:r>
              <a:t>FY26 Wave 1</a:t>
            </a:r>
          </a:p>
          <a:p>
            <a:pPr algn="ctr">
              <a:defRPr sz="800">
                <a:solidFill>
                  <a:srgbClr val="7F7F7F"/>
                </a:solidFill>
                <a:latin typeface="Arial"/>
              </a:defRPr>
            </a:pPr>
            <a:r>
              <a:t>Quick Wins (45 use cases)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52061" y="3262174"/>
            <a:ext cx="851306" cy="2087065"/>
          </a:xfrm>
          <a:prstGeom prst="rect">
            <a:avLst/>
          </a:prstGeom>
          <a:solidFill>
            <a:srgbClr val="1F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7634" y="282326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F6FD8"/>
                </a:solidFill>
                <a:latin typeface="Arial"/>
              </a:defRPr>
            </a:pPr>
            <a:r>
              <a:t>+88%</a:t>
            </a:r>
          </a:p>
          <a:p>
            <a:pPr algn="ctr">
              <a:defRPr sz="1050" b="1">
                <a:solidFill>
                  <a:srgbClr val="051C2C"/>
                </a:solidFill>
                <a:latin typeface="Arial"/>
              </a:defRPr>
            </a:pPr>
            <a:r>
              <a:t>920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6195" y="5404103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51C2C"/>
                </a:solidFill>
                <a:latin typeface="Arial"/>
              </a:defRPr>
            </a:pPr>
            <a:r>
              <a:t>FY27 Wave 2</a:t>
            </a:r>
          </a:p>
          <a:p>
            <a:pPr algn="ctr">
              <a:defRPr sz="800">
                <a:solidFill>
                  <a:srgbClr val="7F7F7F"/>
                </a:solidFill>
                <a:latin typeface="Arial"/>
              </a:defRPr>
            </a:pPr>
            <a:r>
              <a:t>Core Scale (65 use cases)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72251" y="2377439"/>
            <a:ext cx="851306" cy="297180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57825" y="1938527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F6FD8"/>
                </a:solidFill>
                <a:latin typeface="Arial"/>
              </a:defRPr>
            </a:pPr>
            <a:r>
              <a:t>+42%</a:t>
            </a:r>
          </a:p>
          <a:p>
            <a:pPr algn="ctr">
              <a:defRPr sz="1050" b="1">
                <a:solidFill>
                  <a:srgbClr val="051C2C"/>
                </a:solidFill>
                <a:latin typeface="Arial"/>
              </a:defRPr>
            </a:pPr>
            <a:r>
              <a:t>1,310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6385" y="5404103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51C2C"/>
                </a:solidFill>
                <a:latin typeface="Arial"/>
              </a:defRPr>
            </a:pPr>
            <a:r>
              <a:t>FY28 Wave 3</a:t>
            </a:r>
          </a:p>
          <a:p>
            <a:pPr algn="ctr">
              <a:defRPr sz="800">
                <a:solidFill>
                  <a:srgbClr val="7F7F7F"/>
                </a:solidFill>
                <a:latin typeface="Arial"/>
              </a:defRPr>
            </a:pPr>
            <a:r>
              <a:t>Full Maturity (150+ total)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989320"/>
            <a:ext cx="128016" cy="12801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594360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51C2C"/>
                </a:solidFill>
                <a:latin typeface="Arial"/>
              </a:defRPr>
            </a:pPr>
            <a:r>
              <a:t>Actuals / Baseline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5989320"/>
            <a:ext cx="128016" cy="128016"/>
          </a:xfrm>
          <a:prstGeom prst="rect">
            <a:avLst/>
          </a:prstGeom>
          <a:solidFill>
            <a:srgbClr val="1F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9232" y="594360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51C2C"/>
                </a:solidFill>
                <a:latin typeface="Arial"/>
              </a:defRPr>
            </a:pPr>
            <a:r>
              <a:t>Wave 1–2 Forecast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5989320"/>
            <a:ext cx="128016" cy="128016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48072" y="594360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51C2C"/>
                </a:solidFill>
                <a:latin typeface="Arial"/>
              </a:defRPr>
            </a:pPr>
            <a:r>
              <a:t>Wave 3 Full Run-Rate Target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1426464"/>
            <a:ext cx="4236415" cy="4709160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60920" y="1426464"/>
            <a:ext cx="4236415" cy="384048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Key takeaways / main 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1901952"/>
            <a:ext cx="3962095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1F6FD8"/>
                </a:solidFill>
                <a:latin typeface="Arial"/>
              </a:rPr>
              <a:t>▪ </a:t>
            </a:r>
            <a:r>
              <a:rPr sz="1000" b="1">
                <a:solidFill>
                  <a:srgbClr val="051C2C"/>
                </a:solidFill>
                <a:latin typeface="Arial"/>
              </a:rPr>
              <a:t>Self-funding Wave 1 (INR 490 Cr): </a:t>
            </a:r>
            <a:r>
              <a:rPr sz="1000">
                <a:solidFill>
                  <a:srgbClr val="051C2C"/>
                </a:solidFill>
                <a:latin typeface="Arial"/>
              </a:rPr>
              <a:t>45 zero-capex Advanced Process Control (APC) and AI yield models in Blast Furnace &amp; SMS deliver cash flow within 6–9 months.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1F6FD8"/>
                </a:solidFill>
                <a:latin typeface="Arial"/>
              </a:rPr>
              <a:t>▪ </a:t>
            </a:r>
            <a:r>
              <a:rPr sz="1000" b="1">
                <a:solidFill>
                  <a:srgbClr val="051C2C"/>
                </a:solidFill>
                <a:latin typeface="Arial"/>
              </a:rPr>
              <a:t>Core plant scaling (INR 920 Cr): </a:t>
            </a:r>
            <a:r>
              <a:rPr sz="1000">
                <a:solidFill>
                  <a:srgbClr val="051C2C"/>
                </a:solidFill>
                <a:latin typeface="Arial"/>
              </a:rPr>
              <a:t>Wave 2 deploys predictive maintenance and Computer Vision slab/coil quality inspection, cutting unplanned downtime by 22%.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1F6FD8"/>
                </a:solidFill>
                <a:latin typeface="Arial"/>
              </a:rPr>
              <a:t>▪ </a:t>
            </a:r>
            <a:r>
              <a:rPr sz="1000" b="1">
                <a:solidFill>
                  <a:srgbClr val="051C2C"/>
                </a:solidFill>
                <a:latin typeface="Arial"/>
              </a:rPr>
              <a:t>Integrated mine-to-mill (INR 1,310 Cr): </a:t>
            </a:r>
            <a:r>
              <a:rPr sz="1000">
                <a:solidFill>
                  <a:srgbClr val="051C2C"/>
                </a:solidFill>
                <a:latin typeface="Arial"/>
              </a:rPr>
              <a:t>Wave 3 links captive iron-ore mines, sinter blend optimization, and dynamic energy dispatch for a +280 bps EBITDA margin lift.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419088"/>
            <a:ext cx="11002975" cy="914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86868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750">
                <a:solidFill>
                  <a:srgbClr val="7F7F7F"/>
                </a:solidFill>
                <a:latin typeface="Arial"/>
              </a:defRPr>
            </a:pPr>
            <a:r>
              <a:t>Source: BSL Plant Operational Diagnostic (FY25); McKinsey Global Metals &amp; Mining Digital Benchmark | Footnote: 1. Gross run-rate EBITDA prior to Central Cloud/OT capex.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455664"/>
            <a:ext cx="2267712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/>
            <a:r>
              <a:rPr sz="850" b="1">
                <a:solidFill>
                  <a:srgbClr val="051C2C"/>
                </a:solidFill>
                <a:latin typeface="Georgia"/>
              </a:rPr>
              <a:t>McKinsey &amp; Company   </a:t>
            </a:r>
            <a:r>
              <a:rPr sz="850" b="1">
                <a:solidFill>
                  <a:srgbClr val="051C2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877A2"/>
                </a:solidFill>
                <a:latin typeface="Arial"/>
              </a:defRPr>
            </a:pPr>
            <a:r>
              <a:t>INITIATIVE PRIORITIZATION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51C2C"/>
                </a:solidFill>
                <a:latin typeface="Arial"/>
              </a:defRPr>
            </a:pPr>
            <a:r>
              <a:t>150+ digital initiatives prioritized by financial impact and time-to-value into three execution waves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7F7F7F"/>
                </a:solidFill>
                <a:latin typeface="Arial"/>
              </a:defRPr>
            </a:pPr>
            <a:r>
              <a:t>Assessment of BSL digital use cases across Level of Impact (EBITDA Cr/yr) vs. Time to Impact (Months to Go-Live)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100297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26464"/>
            <a:ext cx="123444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7F7F7F"/>
                </a:solidFill>
                <a:latin typeface="Arial"/>
              </a:defRPr>
            </a:pPr>
            <a:r>
              <a:t>IMPACT vs.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83664" y="1426464"/>
            <a:ext cx="3201314" cy="329184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SHORT (&lt; 6 Months)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139842" y="1426464"/>
            <a:ext cx="3201314" cy="329184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MEDIUM (6–15 Months)</a:t>
            </a:r>
          </a:p>
        </p:txBody>
      </p:sp>
      <p:sp>
        <p:nvSpPr>
          <p:cNvPr id="9" name="Rectangle 8"/>
          <p:cNvSpPr/>
          <p:nvPr/>
        </p:nvSpPr>
        <p:spPr>
          <a:xfrm>
            <a:off x="8396020" y="1426464"/>
            <a:ext cx="3201314" cy="329184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LONG (15–24+ Months)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810512"/>
            <a:ext cx="1234440" cy="126187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1C2C"/>
                </a:solidFill>
                <a:latin typeface="Arial"/>
              </a:defRPr>
            </a:pPr>
            <a:r>
              <a:t>HIGH</a:t>
            </a:r>
          </a:p>
          <a:p>
            <a:pPr algn="ctr">
              <a:defRPr sz="800">
                <a:solidFill>
                  <a:srgbClr val="051C2C"/>
                </a:solidFill>
                <a:latin typeface="Arial"/>
              </a:defRPr>
            </a:pPr>
            <a:r>
              <a:t>(&gt; INR 100 Cr)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83664" y="1810512"/>
            <a:ext cx="3201314" cy="1261872"/>
          </a:xfrm>
          <a:prstGeom prst="rect">
            <a:avLst/>
          </a:prstGeom>
          <a:solidFill>
            <a:srgbClr val="E7F0F9"/>
          </a:solidFill>
          <a:ln>
            <a:solidFill>
              <a:srgbClr val="1F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75104" y="1901952"/>
            <a:ext cx="3018434" cy="43891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BF Coke &amp; Fuel Rate AI Optimizer  |  INR 240 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75104" y="2432304"/>
            <a:ext cx="3018434" cy="43891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SMS Ferro-Alloy &amp;BOF Yield Twin  |  INR 165 Cr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39842" y="1810512"/>
            <a:ext cx="3201314" cy="1261872"/>
          </a:xfrm>
          <a:prstGeom prst="rect">
            <a:avLst/>
          </a:prstGeom>
          <a:solidFill>
            <a:srgbClr val="E7F0F9"/>
          </a:solidFill>
          <a:ln>
            <a:solidFill>
              <a:srgbClr val="1F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31282" y="1901952"/>
            <a:ext cx="3018434" cy="43891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HSM Throughput &amp; Cobble Prevention AI  |  INR 190 Cr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1282" y="2432304"/>
            <a:ext cx="3018434" cy="438912"/>
          </a:xfrm>
          <a:prstGeom prst="roundRect">
            <a:avLst/>
          </a:prstGeom>
          <a:solidFill>
            <a:srgbClr val="FAD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1C2C"/>
                </a:solidFill>
                <a:latin typeface="Arial"/>
              </a:defRPr>
            </a:pPr>
            <a:r>
              <a:t>Captive Mine-to-Sinter Blend Optimizer  |  INR 145 Cr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96020" y="1810512"/>
            <a:ext cx="3201314" cy="1261872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87460" y="1901952"/>
            <a:ext cx="3018434" cy="438912"/>
          </a:xfrm>
          <a:prstGeom prst="roundRect">
            <a:avLst/>
          </a:prstGeom>
          <a:solidFill>
            <a:srgbClr val="FAD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1C2C"/>
                </a:solidFill>
                <a:latin typeface="Arial"/>
              </a:defRPr>
            </a:pPr>
            <a:r>
              <a:t>Autonomous Raw Material Yard &amp; Dispatch  |  INR 130 Cr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87460" y="2432304"/>
            <a:ext cx="3018434" cy="438912"/>
          </a:xfrm>
          <a:prstGeom prst="roundRect">
            <a:avLst/>
          </a:prstGeom>
          <a:solidFill>
            <a:srgbClr val="E5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Enterprise ERP + MES Layer Modernization  |  Enabler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127248"/>
            <a:ext cx="1234440" cy="126187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1C2C"/>
                </a:solidFill>
                <a:latin typeface="Arial"/>
              </a:defRPr>
            </a:pPr>
            <a:r>
              <a:t>MEDIUM</a:t>
            </a:r>
          </a:p>
          <a:p>
            <a:pPr algn="ctr">
              <a:defRPr sz="800">
                <a:solidFill>
                  <a:srgbClr val="051C2C"/>
                </a:solidFill>
                <a:latin typeface="Arial"/>
              </a:defRPr>
            </a:pPr>
            <a:r>
              <a:t>(INR 40–100 Cr)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83664" y="3127248"/>
            <a:ext cx="3201314" cy="1261872"/>
          </a:xfrm>
          <a:prstGeom prst="rect">
            <a:avLst/>
          </a:prstGeom>
          <a:solidFill>
            <a:srgbClr val="E7F0F9"/>
          </a:solidFill>
          <a:ln>
            <a:solidFill>
              <a:srgbClr val="1F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975104" y="3218688"/>
            <a:ext cx="3018434" cy="43891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Predictive Maintenance – Critical Turbines  |  INR 85 Cr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75104" y="3749039"/>
            <a:ext cx="3018434" cy="438912"/>
          </a:xfrm>
          <a:prstGeom prst="roundRect">
            <a:avLst/>
          </a:prstGeom>
          <a:solidFill>
            <a:srgbClr val="FAD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1C2C"/>
                </a:solidFill>
                <a:latin typeface="Arial"/>
              </a:defRPr>
            </a:pPr>
            <a:r>
              <a:t>Real-Time By-Product Gas Grid Balancing  |  INR 70 Cr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39842" y="3127248"/>
            <a:ext cx="3201314" cy="1261872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231282" y="3218688"/>
            <a:ext cx="3018434" cy="438912"/>
          </a:xfrm>
          <a:prstGeom prst="roundRect">
            <a:avLst/>
          </a:prstGeom>
          <a:solidFill>
            <a:srgbClr val="FAD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1C2C"/>
                </a:solidFill>
                <a:latin typeface="Arial"/>
              </a:defRPr>
            </a:pPr>
            <a:r>
              <a:t>Computer Vision Strip Surface Grading  |  INR 90 Cr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31282" y="3749039"/>
            <a:ext cx="3018434" cy="438912"/>
          </a:xfrm>
          <a:prstGeom prst="roundRect">
            <a:avLst/>
          </a:prstGeom>
          <a:solidFill>
            <a:srgbClr val="FAD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1C2C"/>
                </a:solidFill>
                <a:latin typeface="Arial"/>
              </a:defRPr>
            </a:pPr>
            <a:r>
              <a:t>Cold Rolling Mill Acid &amp; Pickling APC  |  INR 60 Cr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96020" y="3127248"/>
            <a:ext cx="3201314" cy="1261872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87460" y="3218688"/>
            <a:ext cx="3018434" cy="438912"/>
          </a:xfrm>
          <a:prstGeom prst="roundRect">
            <a:avLst/>
          </a:prstGeom>
          <a:solidFill>
            <a:srgbClr val="E5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Integrated Rail &amp; Outbound Logistics Twin  |  INR 55 Cr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443983"/>
            <a:ext cx="1234440" cy="126187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1C2C"/>
                </a:solidFill>
                <a:latin typeface="Arial"/>
              </a:defRPr>
            </a:pPr>
            <a:r>
              <a:t>LOW</a:t>
            </a:r>
          </a:p>
          <a:p>
            <a:pPr algn="ctr">
              <a:defRPr sz="800">
                <a:solidFill>
                  <a:srgbClr val="051C2C"/>
                </a:solidFill>
                <a:latin typeface="Arial"/>
              </a:defRPr>
            </a:pPr>
            <a:r>
              <a:t>(&lt; INR 40 Cr)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83664" y="4443983"/>
            <a:ext cx="3201314" cy="1261872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975104" y="4535423"/>
            <a:ext cx="3018434" cy="438912"/>
          </a:xfrm>
          <a:prstGeom prst="roundRect">
            <a:avLst/>
          </a:prstGeom>
          <a:solidFill>
            <a:srgbClr val="FAD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1C2C"/>
                </a:solidFill>
                <a:latin typeface="Arial"/>
              </a:defRPr>
            </a:pPr>
            <a:r>
              <a:t>Digital Shift Handover &amp; E-Logbooks  |  INR 35 Cr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39842" y="4443983"/>
            <a:ext cx="3201314" cy="1261872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231282" y="4535423"/>
            <a:ext cx="3018434" cy="438912"/>
          </a:xfrm>
          <a:prstGeom prst="roundRect">
            <a:avLst/>
          </a:prstGeom>
          <a:solidFill>
            <a:srgbClr val="FAD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1C2C"/>
                </a:solidFill>
                <a:latin typeface="Arial"/>
              </a:defRPr>
            </a:pPr>
            <a:r>
              <a:t>GenAI Maintenance Copilot for Technicians  |  INR 25 Cr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96020" y="4443983"/>
            <a:ext cx="3201314" cy="1261872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87460" y="4535423"/>
            <a:ext cx="3018434" cy="438912"/>
          </a:xfrm>
          <a:prstGeom prst="roundRect">
            <a:avLst/>
          </a:prstGeom>
          <a:solidFill>
            <a:srgbClr val="E5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Legacy SCADA Sensor Retrofit (Tier-3 Shops)  |  INR 20 Cr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77440" y="5815584"/>
            <a:ext cx="201168" cy="1463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15184" y="5769864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51C2C"/>
                </a:solidFill>
                <a:latin typeface="Arial"/>
              </a:defRPr>
            </a:pPr>
            <a:r>
              <a:t>= Wave 1 Priority Quick Wins (Immediate Launch)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40680" y="5815584"/>
            <a:ext cx="201168" cy="146304"/>
          </a:xfrm>
          <a:prstGeom prst="roundRect">
            <a:avLst/>
          </a:prstGeom>
          <a:solidFill>
            <a:srgbClr val="FAD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78424" y="5769864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51C2C"/>
                </a:solidFill>
                <a:latin typeface="Arial"/>
              </a:defRPr>
            </a:pPr>
            <a:r>
              <a:t>= Wave 2 Core Scale Initiatives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03920" y="5815584"/>
            <a:ext cx="201168" cy="146304"/>
          </a:xfrm>
          <a:prstGeom prst="roundRect">
            <a:avLst/>
          </a:prstGeom>
          <a:solidFill>
            <a:srgbClr val="E5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4" y="5769864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51C2C"/>
                </a:solidFill>
                <a:latin typeface="Arial"/>
              </a:defRPr>
            </a:pPr>
            <a:r>
              <a:t>= Wave 3 Foundational / Heavy IT-OT Capex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6419088"/>
            <a:ext cx="11002975" cy="914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6473952"/>
            <a:ext cx="86868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750">
                <a:solidFill>
                  <a:srgbClr val="7F7F7F"/>
                </a:solidFill>
                <a:latin typeface="Arial"/>
              </a:defRPr>
            </a:pPr>
            <a:r>
              <a:t>Source: BSL Shop-Floor Value Workshops; McKinsey Steel Digital Use-Case Library (n = 154 initiatives) | Footnote: 1. Top 12 flagship clusters shown above.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6455664"/>
            <a:ext cx="2267712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/>
            <a:r>
              <a:rPr sz="850" b="1">
                <a:solidFill>
                  <a:srgbClr val="051C2C"/>
                </a:solidFill>
                <a:latin typeface="Georgia"/>
              </a:rPr>
              <a:t>McKinsey &amp; Company   </a:t>
            </a:r>
            <a:r>
              <a:rPr sz="850" b="1">
                <a:solidFill>
                  <a:srgbClr val="051C2C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877A2"/>
                </a:solidFill>
                <a:latin typeface="Arial"/>
              </a:defRPr>
            </a:pPr>
            <a:r>
              <a:t>STRATEGIC TRANSFORMATION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51C2C"/>
                </a:solidFill>
                <a:latin typeface="Arial"/>
              </a:defRPr>
            </a:pPr>
            <a:r>
              <a:t>Four core digital pillars drive end-to-end operational excellence across BSL plants and mines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7F7F7F"/>
                </a:solidFill>
                <a:latin typeface="Arial"/>
              </a:defRPr>
            </a:pPr>
            <a:r>
              <a:t>Synthesis of strategic levers, technical architecture, and flagship shop-floor implementations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100297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26464"/>
          <a:ext cx="1100297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5196535"/>
                <a:gridCol w="3291840"/>
              </a:tblGrid>
              <a:tr h="9326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Transformation Pillar</a:t>
                      </a:r>
                    </a:p>
                  </a:txBody>
                  <a:tcPr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 &amp; Core Strategic Levers</a:t>
                      </a:r>
                    </a:p>
                  </a:txBody>
                  <a:tcPr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Select BSL Examples &amp; Quantified Impact</a:t>
                      </a:r>
                    </a:p>
                  </a:txBody>
                  <a:tcPr anchor="ctr">
                    <a:solidFill>
                      <a:srgbClr val="061F32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1. Primary Steelmaking &amp; Blast Furnace AI~INR 550 Cr | 48 Initiatives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• Closed-loop thermal state prediction and burden distribution modeling in Blast Furnaces</a:t>
                      </a:r>
                    </a:p>
                    <a:p>
                      <a:pPr>
                        <a:defRPr sz="88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• Dynamic charge-mix and ferro-alloy minimization in Basic Oxygen Furnaces (SMS-II)</a:t>
                      </a:r>
                    </a:p>
                    <a:p>
                      <a:pPr>
                        <a:defRPr sz="88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• Automated sinter plant basicity and moisture control connected to raw material chemistry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• BF Coke Rate AI: -14 kg/tHM reduction (+INR 240 Cr)</a:t>
                      </a:r>
                    </a:p>
                    <a:p>
                      <a:pPr>
                        <a:defRPr sz="88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• BOF First-Turndown Hit Rate: +18% improvement (+INR 165 Cr)</a:t>
                      </a:r>
                    </a:p>
                  </a:txBody>
                  <a:tcPr anchor="ctr">
                    <a:solidFill>
                      <a:srgbClr val="E7F0F9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2. Rolling Mills &amp; Vision Quality Control~INR 380 Cr | 42 Initiatives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• Pacing optimization and reheating furnace fuel control in Hot Strip Mill (HSM)</a:t>
                      </a:r>
                    </a:p>
                    <a:p>
                      <a:pPr>
                        <a:defRPr sz="88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• High-speed Computer Vision defect detection to prevent downstream cold-rolling cobbles</a:t>
                      </a:r>
                    </a:p>
                    <a:p>
                      <a:pPr>
                        <a:defRPr sz="88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• Vibration and thermal anomaly prediction across mill stands, bearings, and coilers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• HSM Bottleneck Pacing: +6.5% throughput (+INR 190 Cr)</a:t>
                      </a:r>
                    </a:p>
                    <a:p>
                      <a:pPr>
                        <a:defRPr sz="88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• CV Surface Inspection: -31% quality downgrades (+INR 90 Cr)</a:t>
                      </a:r>
                    </a:p>
                  </a:txBody>
                  <a:tcPr anchor="ctr">
                    <a:solidFill>
                      <a:srgbClr val="E7F0F9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3. Smart Energy, Utilities &amp; Mine-to-Mill~INR 260 Cr | 36 Initiatives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• Real-time optimization of BF, Coke Oven, and LD gas network to minimize flaring</a:t>
                      </a:r>
                    </a:p>
                    <a:p>
                      <a:pPr>
                        <a:defRPr sz="88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• Integrated mine-to-pellet-to-blast-furnace logistics scheduling and rake turnaround</a:t>
                      </a:r>
                    </a:p>
                    <a:p>
                      <a:pPr>
                        <a:defRPr sz="88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• Smart water and oxygen plant load forecasting synchronized with converter blowing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• Mine-to-Sinter Blend: +INR 145 Cr iron recovery</a:t>
                      </a:r>
                    </a:p>
                    <a:p>
                      <a:pPr>
                        <a:defRPr sz="88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• Gas Grid Dispatch: -28% gas flaring loss (+INR 70 Cr)</a:t>
                      </a:r>
                    </a:p>
                  </a:txBody>
                  <a:tcPr anchor="ctr">
                    <a:solidFill>
                      <a:srgbClr val="E7F0F9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4. OT/IT Data Platform &amp; Digital Academy~INR 120 Cr | 28 Enablers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• Unified industrial data lakehouse ingesting Level-1/Level-2 PLC &amp; SCADA tags at 1-sec resolution</a:t>
                      </a:r>
                    </a:p>
                    <a:p>
                      <a:pPr>
                        <a:defRPr sz="88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• GenAI Maintenance Copilot indexing 15+ years of BSL OEM manuals and breakdown logs</a:t>
                      </a:r>
                    </a:p>
                    <a:p>
                      <a:pPr>
                        <a:defRPr sz="88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• Dedicated Digital Center of Excellence (CCoE) upskilling 450+ plant engineers and translators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• Unified OT/IT Lake: 85% sensor tag coverage by Q3 FY27</a:t>
                      </a:r>
                    </a:p>
                    <a:p>
                      <a:pPr>
                        <a:defRPr sz="88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• SAIL Digital Academy: 60+ agile pod specialists trained</a:t>
                      </a:r>
                    </a:p>
                  </a:txBody>
                  <a:tcPr anchor="ctr">
                    <a:solidFill>
                      <a:srgbClr val="E7F0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94360" y="6419088"/>
            <a:ext cx="11002975" cy="914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86868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750">
                <a:solidFill>
                  <a:srgbClr val="7F7F7F"/>
                </a:solidFill>
                <a:latin typeface="Arial"/>
              </a:defRPr>
            </a:pPr>
            <a:r>
              <a:t>Source: SAIL-BSL Digital Transformation Blueprint; McKinsey Industry 4.0 Architecture Team | Footnote: 1. Initiative counts include sub-shop rollouts.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267712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/>
            <a:r>
              <a:rPr sz="850" b="1">
                <a:solidFill>
                  <a:srgbClr val="051C2C"/>
                </a:solidFill>
                <a:latin typeface="Georgia"/>
              </a:rPr>
              <a:t>McKinsey &amp; Company   </a:t>
            </a:r>
            <a:r>
              <a:rPr sz="850" b="1">
                <a:solidFill>
                  <a:srgbClr val="051C2C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877A2"/>
                </a:solidFill>
                <a:latin typeface="Arial"/>
              </a:defRPr>
            </a:pPr>
            <a:r>
              <a:t>CAPABILITY &amp; READINESS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51C2C"/>
                </a:solidFill>
                <a:latin typeface="Arial"/>
              </a:defRPr>
            </a:pPr>
            <a:r>
              <a:t>Delivering the roadmap requires targeted upgrades across OT instrumentation and agile pod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7F7F7F"/>
                </a:solidFill>
                <a:latin typeface="Arial"/>
              </a:defRPr>
            </a:pPr>
            <a:r>
              <a:t>Current capability maturity assessment and 24-month governance milestones across 6 core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100297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26464"/>
          <a:ext cx="11002975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4190695"/>
                <a:gridCol w="2651760"/>
                <a:gridCol w="1737360"/>
              </a:tblGrid>
              <a:tr h="5682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Parameter / Dimension</a:t>
                      </a:r>
                    </a:p>
                  </a:txBody>
                  <a:tcPr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Current Baseline &amp; Key Diagnostic Gap</a:t>
                      </a:r>
                    </a:p>
                  </a:txBody>
                  <a:tcPr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Wave 1–3 Target State (FY26–FY28)</a:t>
                      </a:r>
                    </a:p>
                  </a:txBody>
                  <a:tcPr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Readiness Status</a:t>
                      </a:r>
                    </a:p>
                  </a:txBody>
                  <a:tcPr anchor="ctr">
                    <a:solidFill>
                      <a:srgbClr val="061F32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1. Executive Governance &amp; PMO</a:t>
                      </a:r>
                    </a:p>
                  </a:txBody>
                  <a:tcPr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Weekly SteerCo established under ED (Works); shop-level value owners assigned across all 8 departments</a:t>
                      </a:r>
                    </a:p>
                  </a:txBody>
                  <a:tcPr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Automated real-time value-tracking dashboard tied to monthly plant P&amp;L</a:t>
                      </a:r>
                    </a:p>
                  </a:txBody>
                  <a:tcPr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Track (High)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2.Blast Furnace &amp; SMS Level-2 APC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Modern SCADA &amp; PLC historians live in BF-2/BF-5 and SMS-II; ready for immediate AI model deployment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Closed-loop AI operator advisory active across 100% of primary hot-metal lines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Track (High)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3. Cloud &amp; Edge Data Architecture</a:t>
                      </a:r>
                    </a:p>
                  </a:txBody>
                  <a:tcPr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Core ERP &amp; MES operational, but real-time streaming middleware between OT and Cloud is in procurement</a:t>
                      </a:r>
                    </a:p>
                  </a:txBody>
                  <a:tcPr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Unified Industrial Data Lakehouse ingesting 120,000+ tags at &lt;1s latency</a:t>
                      </a:r>
                    </a:p>
                  </a:txBody>
                  <a:tcPr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In Progress (Med)</a:t>
                      </a:r>
                    </a:p>
                  </a:txBody>
                  <a:tcPr anchor="ctr">
                    <a:solidFill>
                      <a:srgbClr val="FAD688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4. Digital Center of Excellence (CCoE)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22 data scientists and metallurgists onboarded; shortage of ML engineers and agile product owners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upskill 450+ BSL champions via SAIL Digital Academy; 6 autonomous pods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In Progress (Med)</a:t>
                      </a:r>
                    </a:p>
                  </a:txBody>
                  <a:tcPr anchor="ctr">
                    <a:solidFill>
                      <a:srgbClr val="FAD688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5. Legacy Shop Sensor &amp; OT Retrofit</a:t>
                      </a:r>
                    </a:p>
                  </a:txBody>
                  <a:tcPr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Manual logbooks and missing flow/temperature instrumentation in older Coke Oven batteries &amp; tier-2 mills</a:t>
                      </a:r>
                    </a:p>
                  </a:txBody>
                  <a:tcPr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Targeted IIoT smart-sensor retrofit across 340 critical measurement points</a:t>
                      </a:r>
                    </a:p>
                  </a:txBody>
                  <a:tcPr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 Req (Low)</a:t>
                      </a:r>
                    </a:p>
                  </a:txBody>
                  <a:tcPr anchor="ctr">
                    <a:solidFill>
                      <a:srgbClr val="E5546C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6. Change Management &amp; Adoption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Strong engineer enthusiasm; front-line console operators need incentive alignment and UI co-design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&gt;85% daily active operator adherence to AI set-point recommendations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Track (High)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94360" y="5687568"/>
            <a:ext cx="11002975" cy="566928"/>
          </a:xfrm>
          <a:prstGeom prst="rect">
            <a:avLst/>
          </a:prstGeom>
          <a:solidFill>
            <a:srgbClr val="E7F0F9"/>
          </a:solidFill>
          <a:ln>
            <a:solidFill>
              <a:srgbClr val="222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1C2C"/>
                </a:solidFill>
                <a:latin typeface="Arial"/>
              </a:defRPr>
            </a:pPr>
            <a:r>
              <a:t>Immediate 90-Day Decision Imperative: Approve Wave 1 launch for 45 priority quick-win use cases, fast-track IIoT sensor procurement for legacy shops (INR 38 Cr capex), and charter the first 3 cross-functional BSL Digital Pods.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19088"/>
            <a:ext cx="11002975" cy="914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6868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750">
                <a:solidFill>
                  <a:srgbClr val="7F7F7F"/>
                </a:solidFill>
                <a:latin typeface="Arial"/>
              </a:defRPr>
            </a:pPr>
            <a:r>
              <a:t>Source: McKinsey Digital Quotient (MDQ) Diagnostic at BSL; Joint IT/OT Architecture Assessment | Footnote: 1. RAG status reflects Wave 1 launch readiness.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267712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/>
            <a:r>
              <a:rPr sz="850" b="1">
                <a:solidFill>
                  <a:srgbClr val="051C2C"/>
                </a:solidFill>
                <a:latin typeface="Georgia"/>
              </a:rPr>
              <a:t>McKinsey &amp; Company   </a:t>
            </a:r>
            <a:r>
              <a:rPr sz="850" b="1">
                <a:solidFill>
                  <a:srgbClr val="051C2C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