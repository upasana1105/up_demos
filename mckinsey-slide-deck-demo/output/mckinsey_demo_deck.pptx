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SAIL Bokaro Steel Plant Digital Transformation Roadmap executive readout. This 3-slide synthesis highlights our diagnostic across BSL's integrated steel plant and mines, prioritizing 150+ digital initiatives into a 3-wave roadmap delivering ~INR 1,310 Cr in annual recurring EBITDA.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Phased rollout across three waves expands BSL's recurring annual EBITDA run-rate from INR 180 Cr in FY25 actuals to INR 1,310 Cr by FY28. Wave 1 requires minimal capex and focuses on AI process control models that self-fund Waves 2 and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mapped all 150+ initiatives on a 3x3 prioritization matrix comparing Level of EBITDA Impact against Time to Impact. Green badges represent Wave 1 priority quick wins; Amber represents Wave 2 core scaling; Coral represents foundational IT/OT upgrades.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50040" y="0"/>
            <a:ext cx="146304" cy="6858000"/>
          </a:xfrm>
          <a:prstGeom prst="rect">
            <a:avLst/>
          </a:prstGeom>
          <a:solidFill>
            <a:srgbClr val="222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96344" y="0"/>
            <a:ext cx="295351" cy="685800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2A3DF"/>
                </a:solidFill>
                <a:latin typeface="Arial"/>
              </a:defRPr>
            </a:pPr>
            <a:r>
              <a:t>DISCUSSION DOCUMENT | CLIENT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9326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Georgia"/>
              </a:defRPr>
            </a:pPr>
            <a:r>
              <a:t>SAIL Digital Transformation Roadmap | BSL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337560"/>
            <a:ext cx="1005840" cy="45720"/>
          </a:xfrm>
          <a:prstGeom prst="rect">
            <a:avLst/>
          </a:prstGeom>
          <a:solidFill>
            <a:srgbClr val="222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547872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A2D5EC"/>
                </a:solidFill>
                <a:latin typeface="Arial"/>
              </a:defRPr>
            </a:pPr>
            <a:r>
              <a:t>End-to-end Industry 4.0 architecture, 150+ prioritized plant &amp; mine initiatives, and capability building to unlock ~INR 1,310 Cr in recurring EBITDA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623560"/>
            <a:ext cx="10424160" cy="13716"/>
          </a:xfrm>
          <a:prstGeom prst="rect">
            <a:avLst/>
          </a:prstGeom>
          <a:solidFill>
            <a:srgbClr val="187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779008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D8D8D8"/>
                </a:solidFill>
                <a:latin typeface="Arial"/>
              </a:defRPr>
            </a:pPr>
            <a:r>
              <a:t>Prepared for Steel Authority of India Limited – Bokaro Steel Plant (BSL)Digital Transformation Steering Committee |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5715000"/>
            <a:ext cx="2240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McKinsey &amp;</a:t>
            </a:r>
            <a:br/>
            <a:r>
              <a:t>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877A2"/>
                </a:solidFill>
                <a:latin typeface="Arial"/>
              </a:defRPr>
            </a:pPr>
            <a:r>
              <a:t>VALUE REALIZATION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51C2C"/>
                </a:solidFill>
                <a:latin typeface="Arial"/>
              </a:defRPr>
            </a:pPr>
            <a:r>
              <a:t>Phased rollout across three waves scales recurring EBITDA impact to ~INR 1,310 Cr by FY28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7F7F7F"/>
                </a:solidFill>
                <a:latin typeface="Arial"/>
              </a:defRPr>
            </a:pPr>
            <a:r>
              <a:t>Gross annual run-rate EBITDA impact from 150+ digital initiatives, INR Crores (FY25 Actuals vs. FY26–FY28 Forecast)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100297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26464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51C2C"/>
                </a:solidFill>
                <a:latin typeface="Arial"/>
              </a:defRPr>
            </a:pPr>
            <a:r>
              <a:t>Recurring EBITDA Impact, INR Cr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408176"/>
            <a:ext cx="2148840" cy="292608"/>
          </a:xfrm>
          <a:prstGeom prst="roundRect">
            <a:avLst/>
          </a:prstGeom>
          <a:solidFill>
            <a:srgbClr val="E7F0F9"/>
          </a:solidFill>
          <a:ln>
            <a:solidFill>
              <a:srgbClr val="A2D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51C2C"/>
                </a:solidFill>
                <a:latin typeface="Arial"/>
              </a:defRPr>
            </a:pPr>
            <a:r>
              <a:t>CAGR +94% (FY25–FY28F)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349240"/>
            <a:ext cx="6400800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1681" y="4940901"/>
            <a:ext cx="851306" cy="40833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7255" y="4501989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F6FD8"/>
                </a:solidFill>
                <a:latin typeface="Arial"/>
              </a:defRPr>
            </a:pPr>
            <a:r>
              <a:t>Baseline</a:t>
            </a:r>
          </a:p>
          <a:p>
            <a:pPr algn="ctr">
              <a:defRPr sz="1050" b="1">
                <a:solidFill>
                  <a:srgbClr val="051C2C"/>
                </a:solidFill>
                <a:latin typeface="Arial"/>
              </a:defRPr>
            </a:pPr>
            <a:r>
              <a:t>180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5814" y="5404103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51C2C"/>
                </a:solidFill>
                <a:latin typeface="Arial"/>
              </a:defRPr>
            </a:pPr>
            <a:r>
              <a:t>FY25 Actuals</a:t>
            </a:r>
          </a:p>
          <a:p>
            <a:pPr algn="ctr">
              <a:defRPr sz="800">
                <a:solidFill>
                  <a:srgbClr val="7F7F7F"/>
                </a:solidFill>
                <a:latin typeface="Arial"/>
              </a:defRPr>
            </a:pPr>
            <a:r>
              <a:t>Pilot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31871" y="4237650"/>
            <a:ext cx="851306" cy="1111589"/>
          </a:xfrm>
          <a:prstGeom prst="rect">
            <a:avLst/>
          </a:prstGeom>
          <a:solidFill>
            <a:srgbClr val="1F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17445" y="379873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F6FD8"/>
                </a:solidFill>
                <a:latin typeface="Arial"/>
              </a:defRPr>
            </a:pPr>
            <a:r>
              <a:t>+172%</a:t>
            </a:r>
          </a:p>
          <a:p>
            <a:pPr algn="ctr">
              <a:defRPr sz="1050" b="1">
                <a:solidFill>
                  <a:srgbClr val="051C2C"/>
                </a:solidFill>
                <a:latin typeface="Arial"/>
              </a:defRPr>
            </a:pPr>
            <a:r>
              <a:t>490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6005" y="5404103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51C2C"/>
                </a:solidFill>
                <a:latin typeface="Arial"/>
              </a:defRPr>
            </a:pPr>
            <a:r>
              <a:t>FY26 Wave 1</a:t>
            </a:r>
          </a:p>
          <a:p>
            <a:pPr algn="ctr">
              <a:defRPr sz="800">
                <a:solidFill>
                  <a:srgbClr val="7F7F7F"/>
                </a:solidFill>
                <a:latin typeface="Arial"/>
              </a:defRPr>
            </a:pPr>
            <a:r>
              <a:t>Quick Wins (45 use cases)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52061" y="3262174"/>
            <a:ext cx="851306" cy="2087065"/>
          </a:xfrm>
          <a:prstGeom prst="rect">
            <a:avLst/>
          </a:prstGeom>
          <a:solidFill>
            <a:srgbClr val="1F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7634" y="282326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F6FD8"/>
                </a:solidFill>
                <a:latin typeface="Arial"/>
              </a:defRPr>
            </a:pPr>
            <a:r>
              <a:t>+88%</a:t>
            </a:r>
          </a:p>
          <a:p>
            <a:pPr algn="ctr">
              <a:defRPr sz="1050" b="1">
                <a:solidFill>
                  <a:srgbClr val="051C2C"/>
                </a:solidFill>
                <a:latin typeface="Arial"/>
              </a:defRPr>
            </a:pPr>
            <a:r>
              <a:t>920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6195" y="5404103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51C2C"/>
                </a:solidFill>
                <a:latin typeface="Arial"/>
              </a:defRPr>
            </a:pPr>
            <a:r>
              <a:t>FY27 Wave 2</a:t>
            </a:r>
          </a:p>
          <a:p>
            <a:pPr algn="ctr">
              <a:defRPr sz="800">
                <a:solidFill>
                  <a:srgbClr val="7F7F7F"/>
                </a:solidFill>
                <a:latin typeface="Arial"/>
              </a:defRPr>
            </a:pPr>
            <a:r>
              <a:t>Core Scale (65 use cases)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72251" y="2377439"/>
            <a:ext cx="851306" cy="297180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57825" y="1938527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F6FD8"/>
                </a:solidFill>
                <a:latin typeface="Arial"/>
              </a:defRPr>
            </a:pPr>
            <a:r>
              <a:t>+42%</a:t>
            </a:r>
          </a:p>
          <a:p>
            <a:pPr algn="ctr">
              <a:defRPr sz="1050" b="1">
                <a:solidFill>
                  <a:srgbClr val="051C2C"/>
                </a:solidFill>
                <a:latin typeface="Arial"/>
              </a:defRPr>
            </a:pPr>
            <a:r>
              <a:t>1,310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6385" y="5404103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51C2C"/>
                </a:solidFill>
                <a:latin typeface="Arial"/>
              </a:defRPr>
            </a:pPr>
            <a:r>
              <a:t>FY28 Wave 3</a:t>
            </a:r>
          </a:p>
          <a:p>
            <a:pPr algn="ctr">
              <a:defRPr sz="800">
                <a:solidFill>
                  <a:srgbClr val="7F7F7F"/>
                </a:solidFill>
                <a:latin typeface="Arial"/>
              </a:defRPr>
            </a:pPr>
            <a:r>
              <a:t>Full Maturity (150+ total)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989320"/>
            <a:ext cx="128016" cy="128016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594360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51C2C"/>
                </a:solidFill>
                <a:latin typeface="Arial"/>
              </a:defRPr>
            </a:pPr>
            <a:r>
              <a:t>Actuals / Baseline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5989320"/>
            <a:ext cx="128016" cy="128016"/>
          </a:xfrm>
          <a:prstGeom prst="rect">
            <a:avLst/>
          </a:prstGeom>
          <a:solidFill>
            <a:srgbClr val="1F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99232" y="594360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51C2C"/>
                </a:solidFill>
                <a:latin typeface="Arial"/>
              </a:defRPr>
            </a:pPr>
            <a:r>
              <a:t>Wave 1–2 Forecast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5989320"/>
            <a:ext cx="128016" cy="128016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48072" y="594360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51C2C"/>
                </a:solidFill>
                <a:latin typeface="Arial"/>
              </a:defRPr>
            </a:pPr>
            <a:r>
              <a:t>Wave 3 Full Run-Rate Target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20" y="1426464"/>
            <a:ext cx="4236415" cy="4709160"/>
          </a:xfrm>
          <a:prstGeom prst="rect">
            <a:avLst/>
          </a:prstGeom>
          <a:solidFill>
            <a:srgbClr val="F2F2F2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60920" y="1426464"/>
            <a:ext cx="4236415" cy="384048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Key takeaways / main conclusion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1901952"/>
            <a:ext cx="3962095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1F6FD8"/>
                </a:solidFill>
                <a:latin typeface="Arial"/>
              </a:rPr>
              <a:t>▪ </a:t>
            </a:r>
            <a:r>
              <a:rPr sz="1000" b="1">
                <a:solidFill>
                  <a:srgbClr val="051C2C"/>
                </a:solidFill>
                <a:latin typeface="Arial"/>
              </a:rPr>
              <a:t>Self-funding Wave 1 (INR 490 Cr): </a:t>
            </a:r>
            <a:r>
              <a:rPr sz="1000">
                <a:solidFill>
                  <a:srgbClr val="051C2C"/>
                </a:solidFill>
                <a:latin typeface="Arial"/>
              </a:rPr>
              <a:t>45 zero-capex Advanced Process Control (APC) and AI yield models in Blast Furnace &amp; SMS deliver cash flow within 6–9 months.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1F6FD8"/>
                </a:solidFill>
                <a:latin typeface="Arial"/>
              </a:rPr>
              <a:t>▪ </a:t>
            </a:r>
            <a:r>
              <a:rPr sz="1000" b="1">
                <a:solidFill>
                  <a:srgbClr val="051C2C"/>
                </a:solidFill>
                <a:latin typeface="Arial"/>
              </a:rPr>
              <a:t>Core plant scaling (INR 920 Cr): </a:t>
            </a:r>
            <a:r>
              <a:rPr sz="1000">
                <a:solidFill>
                  <a:srgbClr val="051C2C"/>
                </a:solidFill>
                <a:latin typeface="Arial"/>
              </a:rPr>
              <a:t>Wave 2 deploys predictive maintenance and Computer Vision slab/coil quality inspection, cutting unplanned downtime by 22%.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1F6FD8"/>
                </a:solidFill>
                <a:latin typeface="Arial"/>
              </a:rPr>
              <a:t>▪ </a:t>
            </a:r>
            <a:r>
              <a:rPr sz="1000" b="1">
                <a:solidFill>
                  <a:srgbClr val="051C2C"/>
                </a:solidFill>
                <a:latin typeface="Arial"/>
              </a:rPr>
              <a:t>Integrated mine-to-mill (INR 1,310 Cr): </a:t>
            </a:r>
            <a:r>
              <a:rPr sz="1000">
                <a:solidFill>
                  <a:srgbClr val="051C2C"/>
                </a:solidFill>
                <a:latin typeface="Arial"/>
              </a:rPr>
              <a:t>Wave 3 links captive iron-ore mines, sinter blend optimization, and dynamic energy dispatch for a +280 bps EBITDA margin lift.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419088"/>
            <a:ext cx="11002975" cy="914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86868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750">
                <a:solidFill>
                  <a:srgbClr val="7F7F7F"/>
                </a:solidFill>
                <a:latin typeface="Arial"/>
              </a:defRPr>
            </a:pPr>
            <a:r>
              <a:t>Source: BSL Plant Operational Diagnostic (FY25); McKinsey Global Metals &amp; Mining Digital Benchmark | Footnote: 1. Gross run-rate EBITDA prior to Central Cloud/OT capex.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455664"/>
            <a:ext cx="2267712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/>
            <a:r>
              <a:rPr sz="850" b="1">
                <a:solidFill>
                  <a:srgbClr val="051C2C"/>
                </a:solidFill>
                <a:latin typeface="Georgia"/>
              </a:rPr>
              <a:t>McKinsey &amp; Company   </a:t>
            </a:r>
            <a:r>
              <a:rPr sz="850" b="1">
                <a:solidFill>
                  <a:srgbClr val="051C2C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877A2"/>
                </a:solidFill>
                <a:latin typeface="Arial"/>
              </a:defRPr>
            </a:pPr>
            <a:r>
              <a:t>INITIATIVE PRIORITIZATION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51C2C"/>
                </a:solidFill>
                <a:latin typeface="Arial"/>
              </a:defRPr>
            </a:pPr>
            <a:r>
              <a:t>150+ digital initiatives prioritized by financial impact and time-to-value into three execution waves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7F7F7F"/>
                </a:solidFill>
                <a:latin typeface="Arial"/>
              </a:defRPr>
            </a:pPr>
            <a:r>
              <a:t>Assessment of BSL digital use cases across Level of Impact (EBITDA Cr/yr) vs. Time to Impact (Months to Go-Live)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100297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26464"/>
            <a:ext cx="123444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7F7F7F"/>
                </a:solidFill>
                <a:latin typeface="Arial"/>
              </a:defRPr>
            </a:pPr>
            <a:r>
              <a:t>IMPACT vs.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83664" y="1426464"/>
            <a:ext cx="3201314" cy="329184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SHORT (&lt; 6 Months)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139842" y="1426464"/>
            <a:ext cx="3201314" cy="329184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MEDIUM (6–15 Months)</a:t>
            </a:r>
          </a:p>
        </p:txBody>
      </p:sp>
      <p:sp>
        <p:nvSpPr>
          <p:cNvPr id="9" name="Rectangle 8"/>
          <p:cNvSpPr/>
          <p:nvPr/>
        </p:nvSpPr>
        <p:spPr>
          <a:xfrm>
            <a:off x="8396020" y="1426464"/>
            <a:ext cx="3201314" cy="329184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LONG (15–24+ Months)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810512"/>
            <a:ext cx="1234440" cy="126187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51C2C"/>
                </a:solidFill>
                <a:latin typeface="Arial"/>
              </a:defRPr>
            </a:pPr>
            <a:r>
              <a:t>HIGH</a:t>
            </a:r>
          </a:p>
          <a:p>
            <a:pPr algn="ctr">
              <a:defRPr sz="800">
                <a:solidFill>
                  <a:srgbClr val="051C2C"/>
                </a:solidFill>
                <a:latin typeface="Arial"/>
              </a:defRPr>
            </a:pPr>
            <a:r>
              <a:t>(&gt; INR 100 Cr)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83664" y="1810512"/>
            <a:ext cx="3201314" cy="1261872"/>
          </a:xfrm>
          <a:prstGeom prst="rect">
            <a:avLst/>
          </a:prstGeom>
          <a:solidFill>
            <a:srgbClr val="E7F0F9"/>
          </a:solidFill>
          <a:ln>
            <a:solidFill>
              <a:srgbClr val="1F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75104" y="1901952"/>
            <a:ext cx="3018434" cy="43891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BF Coke &amp; Fuel Rate AI Optimizer  |  INR 240 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75104" y="2432304"/>
            <a:ext cx="3018434" cy="43891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SMS Ferro-Alloy &amp; BOF Yield Twin  |  INR 165 Cr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39842" y="1810512"/>
            <a:ext cx="3201314" cy="1261872"/>
          </a:xfrm>
          <a:prstGeom prst="rect">
            <a:avLst/>
          </a:prstGeom>
          <a:solidFill>
            <a:srgbClr val="E7F0F9"/>
          </a:solidFill>
          <a:ln>
            <a:solidFill>
              <a:srgbClr val="1F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31282" y="1901952"/>
            <a:ext cx="3018434" cy="43891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HSM Throughput &amp; Cobble Prevention AI  |  INR 190 Cr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31282" y="2432304"/>
            <a:ext cx="3018434" cy="438912"/>
          </a:xfrm>
          <a:prstGeom prst="roundRect">
            <a:avLst/>
          </a:prstGeom>
          <a:solidFill>
            <a:srgbClr val="FAD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1C2C"/>
                </a:solidFill>
                <a:latin typeface="Arial"/>
              </a:defRPr>
            </a:pPr>
            <a:r>
              <a:t>Captive Mine-to-Sinter Blend Optimizer  |  INR 145 Cr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96020" y="1810512"/>
            <a:ext cx="3201314" cy="1261872"/>
          </a:xfrm>
          <a:prstGeom prst="rect">
            <a:avLst/>
          </a:prstGeom>
          <a:solidFill>
            <a:srgbClr val="F2F2F2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87460" y="1901952"/>
            <a:ext cx="3018434" cy="438912"/>
          </a:xfrm>
          <a:prstGeom prst="roundRect">
            <a:avLst/>
          </a:prstGeom>
          <a:solidFill>
            <a:srgbClr val="FAD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1C2C"/>
                </a:solidFill>
                <a:latin typeface="Arial"/>
              </a:defRPr>
            </a:pPr>
            <a:r>
              <a:t>Autonomous Raw Material Yard &amp; Dispatch  |  INR 130 Cr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87460" y="2432304"/>
            <a:ext cx="3018434" cy="438912"/>
          </a:xfrm>
          <a:prstGeom prst="roundRect">
            <a:avLst/>
          </a:prstGeom>
          <a:solidFill>
            <a:srgbClr val="E5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Enterprise ERP + MES Layer Modernization  |  Enabler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127248"/>
            <a:ext cx="1234440" cy="126187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51C2C"/>
                </a:solidFill>
                <a:latin typeface="Arial"/>
              </a:defRPr>
            </a:pPr>
            <a:r>
              <a:t>MEDIUM</a:t>
            </a:r>
          </a:p>
          <a:p>
            <a:pPr algn="ctr">
              <a:defRPr sz="800">
                <a:solidFill>
                  <a:srgbClr val="051C2C"/>
                </a:solidFill>
                <a:latin typeface="Arial"/>
              </a:defRPr>
            </a:pPr>
            <a:r>
              <a:t>(INR 40–100 Cr)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83664" y="3127248"/>
            <a:ext cx="3201314" cy="1261872"/>
          </a:xfrm>
          <a:prstGeom prst="rect">
            <a:avLst/>
          </a:prstGeom>
          <a:solidFill>
            <a:srgbClr val="E7F0F9"/>
          </a:solidFill>
          <a:ln>
            <a:solidFill>
              <a:srgbClr val="1F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975104" y="3218688"/>
            <a:ext cx="3018434" cy="43891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Predictive Maintenance – Critical Turbines  |  INR 85 Cr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75104" y="3749039"/>
            <a:ext cx="3018434" cy="438912"/>
          </a:xfrm>
          <a:prstGeom prst="roundRect">
            <a:avLst/>
          </a:prstGeom>
          <a:solidFill>
            <a:srgbClr val="FAD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1C2C"/>
                </a:solidFill>
                <a:latin typeface="Arial"/>
              </a:defRPr>
            </a:pPr>
            <a:r>
              <a:t>Real-Time By-Product Gas Grid Balancing  |  INR 70 Cr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39842" y="3127248"/>
            <a:ext cx="3201314" cy="1261872"/>
          </a:xfrm>
          <a:prstGeom prst="rect">
            <a:avLst/>
          </a:prstGeom>
          <a:solidFill>
            <a:srgbClr val="F2F2F2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231282" y="3218688"/>
            <a:ext cx="3018434" cy="438912"/>
          </a:xfrm>
          <a:prstGeom prst="roundRect">
            <a:avLst/>
          </a:prstGeom>
          <a:solidFill>
            <a:srgbClr val="FAD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1C2C"/>
                </a:solidFill>
                <a:latin typeface="Arial"/>
              </a:defRPr>
            </a:pPr>
            <a:r>
              <a:t>Computer Vision Strip Surface Grading  |  INR 90 Cr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31282" y="3749039"/>
            <a:ext cx="3018434" cy="438912"/>
          </a:xfrm>
          <a:prstGeom prst="roundRect">
            <a:avLst/>
          </a:prstGeom>
          <a:solidFill>
            <a:srgbClr val="FAD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1C2C"/>
                </a:solidFill>
                <a:latin typeface="Arial"/>
              </a:defRPr>
            </a:pPr>
            <a:r>
              <a:t>Cold Rolling Mill Acid &amp; Pickling APC  |  INR 60 Cr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96020" y="3127248"/>
            <a:ext cx="3201314" cy="1261872"/>
          </a:xfrm>
          <a:prstGeom prst="rect">
            <a:avLst/>
          </a:prstGeom>
          <a:solidFill>
            <a:srgbClr val="F2F2F2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87460" y="3218688"/>
            <a:ext cx="3018434" cy="438912"/>
          </a:xfrm>
          <a:prstGeom prst="roundRect">
            <a:avLst/>
          </a:prstGeom>
          <a:solidFill>
            <a:srgbClr val="E5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Integrated Rail &amp; Outbound Logistics Twin  |  INR 55 Cr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443983"/>
            <a:ext cx="1234440" cy="126187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51C2C"/>
                </a:solidFill>
                <a:latin typeface="Arial"/>
              </a:defRPr>
            </a:pPr>
            <a:r>
              <a:t>LOW</a:t>
            </a:r>
          </a:p>
          <a:p>
            <a:pPr algn="ctr">
              <a:defRPr sz="800">
                <a:solidFill>
                  <a:srgbClr val="051C2C"/>
                </a:solidFill>
                <a:latin typeface="Arial"/>
              </a:defRPr>
            </a:pPr>
            <a:r>
              <a:t>(&lt; INR 40 Cr)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83664" y="4443983"/>
            <a:ext cx="3201314" cy="1261872"/>
          </a:xfrm>
          <a:prstGeom prst="rect">
            <a:avLst/>
          </a:prstGeom>
          <a:solidFill>
            <a:srgbClr val="F2F2F2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975104" y="4535423"/>
            <a:ext cx="3018434" cy="438912"/>
          </a:xfrm>
          <a:prstGeom prst="roundRect">
            <a:avLst/>
          </a:prstGeom>
          <a:solidFill>
            <a:srgbClr val="FAD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1C2C"/>
                </a:solidFill>
                <a:latin typeface="Arial"/>
              </a:defRPr>
            </a:pPr>
            <a:r>
              <a:t>Digital Shift Handover &amp; E-Logbooks  |  INR 35 Cr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39842" y="4443983"/>
            <a:ext cx="3201314" cy="1261872"/>
          </a:xfrm>
          <a:prstGeom prst="rect">
            <a:avLst/>
          </a:prstGeom>
          <a:solidFill>
            <a:srgbClr val="F2F2F2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231282" y="4535423"/>
            <a:ext cx="3018434" cy="438912"/>
          </a:xfrm>
          <a:prstGeom prst="roundRect">
            <a:avLst/>
          </a:prstGeom>
          <a:solidFill>
            <a:srgbClr val="FAD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1C2C"/>
                </a:solidFill>
                <a:latin typeface="Arial"/>
              </a:defRPr>
            </a:pPr>
            <a:r>
              <a:t>GenAI Maintenance Copilot for Technicians  |  INR 25 Cr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96020" y="4443983"/>
            <a:ext cx="3201314" cy="1261872"/>
          </a:xfrm>
          <a:prstGeom prst="rect">
            <a:avLst/>
          </a:prstGeom>
          <a:solidFill>
            <a:srgbClr val="F2F2F2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87460" y="4535423"/>
            <a:ext cx="3018434" cy="438912"/>
          </a:xfrm>
          <a:prstGeom prst="roundRect">
            <a:avLst/>
          </a:prstGeom>
          <a:solidFill>
            <a:srgbClr val="E5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Legacy SCADA Sensor Retrofit (Tier-3 Shops)  |  INR 20 Cr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77440" y="5815584"/>
            <a:ext cx="201168" cy="1463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15184" y="5769864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51C2C"/>
                </a:solidFill>
                <a:latin typeface="Arial"/>
              </a:defRPr>
            </a:pPr>
            <a:r>
              <a:t>= Wave 1 Priority Quick Wins (Immediate Launch)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40680" y="5815584"/>
            <a:ext cx="201168" cy="146304"/>
          </a:xfrm>
          <a:prstGeom prst="roundRect">
            <a:avLst/>
          </a:prstGeom>
          <a:solidFill>
            <a:srgbClr val="FAD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78424" y="5769864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51C2C"/>
                </a:solidFill>
                <a:latin typeface="Arial"/>
              </a:defRPr>
            </a:pPr>
            <a:r>
              <a:t>= Wave 2 Core Scale Initiatives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03920" y="5815584"/>
            <a:ext cx="201168" cy="146304"/>
          </a:xfrm>
          <a:prstGeom prst="roundRect">
            <a:avLst/>
          </a:prstGeom>
          <a:solidFill>
            <a:srgbClr val="E5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4" y="5769864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51C2C"/>
                </a:solidFill>
                <a:latin typeface="Arial"/>
              </a:defRPr>
            </a:pPr>
            <a:r>
              <a:t>= Wave 3 Foundational / Heavy IT-OT Capex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6419088"/>
            <a:ext cx="11002975" cy="914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6473952"/>
            <a:ext cx="86868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750">
                <a:solidFill>
                  <a:srgbClr val="7F7F7F"/>
                </a:solidFill>
                <a:latin typeface="Arial"/>
              </a:defRPr>
            </a:pPr>
            <a:r>
              <a:t>Source: BSL Shop-Floor Value Workshops; McKinsey Steel Digital Use-Case Library (n = 154 initiatives) | Footnote: 1. Top 12 flagship clusters shown above.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6455664"/>
            <a:ext cx="2267712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/>
            <a:r>
              <a:rPr sz="850" b="1">
                <a:solidFill>
                  <a:srgbClr val="051C2C"/>
                </a:solidFill>
                <a:latin typeface="Georgia"/>
              </a:rPr>
              <a:t>McKinsey &amp; Company   </a:t>
            </a:r>
            <a:r>
              <a:rPr sz="850" b="1">
                <a:solidFill>
                  <a:srgbClr val="051C2C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